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3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2743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LOW-COST</a:t>
            </a:r>
            <a:br/>
            <a:r>
              <a:t>HYPERSPECTRAL</a:t>
            </a:r>
            <a:br/>
            <a:r>
              <a:t>IMAGING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46120"/>
            <a:ext cx="2697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7E0F0"/>
                </a:solidFill>
                <a:latin typeface="Aptos"/>
              </a:defRPr>
            </a:pPr>
            <a:r>
              <a:t>RGB → HSI spectral reconstruction</a:t>
            </a:r>
            <a:br/>
            <a:r>
              <a:t>with selectable wavelength bands</a:t>
            </a:r>
          </a:p>
        </p:txBody>
      </p:sp>
      <p:pic>
        <p:nvPicPr>
          <p:cNvPr id="5" name="Picture 4" descr="image(20261008-09395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916" y="731520"/>
            <a:ext cx="3214687" cy="3429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60520" y="731520"/>
            <a:ext cx="7269480" cy="3429000"/>
          </a:xfrm>
          <a:prstGeom prst="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10-08 1426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397" y="4343400"/>
            <a:ext cx="3357725" cy="1783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60520" y="4343400"/>
            <a:ext cx="7269480" cy="1783080"/>
          </a:xfrm>
          <a:prstGeom prst="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60" y="6291072"/>
            <a:ext cx="7040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07D"/>
                </a:solidFill>
                <a:latin typeface="Aptos"/>
              </a:defRPr>
            </a:pPr>
            <a:r>
              <a:t>Portable prototype • Integrated display • Real-time processed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07D"/>
                </a:solidFill>
                <a:latin typeface="Aptos"/>
              </a:defRPr>
            </a:pPr>
            <a:r>
              <a:t>Convert ordinary RGB/white-light images into useful spectral information.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40080" cy="50292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5778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242B37"/>
                </a:solidFill>
                <a:latin typeface="Aptos"/>
              </a:defRPr>
            </a:pPr>
            <a:r>
              <a:t>• Captures an RGB/white-light image using a compact imaging setup.</a:t>
            </a:r>
          </a:p>
          <a:p>
            <a:pPr>
              <a:spcAft>
                <a:spcPts val="700"/>
              </a:spcAft>
              <a:defRPr sz="1550">
                <a:solidFill>
                  <a:srgbClr val="242B37"/>
                </a:solidFill>
                <a:latin typeface="Aptos"/>
              </a:defRPr>
            </a:pPr>
            <a:r>
              <a:t>• Applies spectral reconstruction and band-selection processing to generate an HSI-style representation.</a:t>
            </a:r>
          </a:p>
          <a:p>
            <a:pPr>
              <a:spcAft>
                <a:spcPts val="700"/>
              </a:spcAft>
              <a:defRPr sz="1550">
                <a:solidFill>
                  <a:srgbClr val="242B37"/>
                </a:solidFill>
                <a:latin typeface="Aptos"/>
              </a:defRPr>
            </a:pPr>
            <a:r>
              <a:t>• Provides adjustable gain and wavelength bands for interactive inspection.</a:t>
            </a:r>
          </a:p>
          <a:p>
            <a:pPr>
              <a:spcAft>
                <a:spcPts val="700"/>
              </a:spcAft>
              <a:defRPr sz="1550">
                <a:solidFill>
                  <a:srgbClr val="242B37"/>
                </a:solidFill>
                <a:latin typeface="Aptos"/>
              </a:defRPr>
            </a:pPr>
            <a:r>
              <a:t>• Displays original and processed views and supports capture/save operations.</a:t>
            </a:r>
          </a:p>
          <a:p>
            <a:pPr>
              <a:spcAft>
                <a:spcPts val="700"/>
              </a:spcAft>
              <a:defRPr sz="1550">
                <a:solidFill>
                  <a:srgbClr val="242B37"/>
                </a:solidFill>
                <a:latin typeface="Aptos"/>
              </a:defRPr>
            </a:pPr>
            <a:r>
              <a:t>• Designed as a lower-cost, portable alternative for experimentation with spectral imaging.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91640"/>
            <a:ext cx="4709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29400" y="1691640"/>
            <a:ext cx="54864" cy="114300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93992" y="1810512"/>
            <a:ext cx="4416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What the project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2194560"/>
            <a:ext cx="4389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B37"/>
                </a:solidFill>
                <a:latin typeface="Aptos"/>
              </a:defRPr>
            </a:pPr>
            <a:r>
              <a:t>Transforms visible-light image information into a spectral representation using calibration and reconstruction.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035808"/>
            <a:ext cx="4709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3035808"/>
            <a:ext cx="54864" cy="1143000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93992" y="3154679"/>
            <a:ext cx="4416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Who can use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3538728"/>
            <a:ext cx="4389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B37"/>
                </a:solidFill>
                <a:latin typeface="Aptos"/>
              </a:defRPr>
            </a:pPr>
            <a:r>
              <a:t>Students, researchers and prototype developers working with imaging, computer vision and spectral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379976"/>
            <a:ext cx="4709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9400" y="4379976"/>
            <a:ext cx="54864" cy="1143000"/>
          </a:xfrm>
          <a:prstGeom prst="rect">
            <a:avLst/>
          </a:prstGeom>
          <a:solidFill>
            <a:srgbClr val="EF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93992" y="4498848"/>
            <a:ext cx="4416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Main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4882896"/>
            <a:ext cx="4389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B37"/>
                </a:solidFill>
                <a:latin typeface="Aptos"/>
              </a:defRPr>
            </a:pPr>
            <a:r>
              <a:t>A portable hardware + software system that produces a processed spectral view from an RGB input.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t>Low-Cost Hyperspectral Imaging System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07D"/>
                </a:solidFill>
                <a:latin typeface="Aptos"/>
              </a:defRPr>
            </a:pPr>
            <a:r>
              <a:t>Conventional hyperspectral systems can be difficult to access for low-cost prototyping.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40080" cy="50292"/>
          </a:xfrm>
          <a:prstGeom prst="rect">
            <a:avLst/>
          </a:prstGeom>
          <a:solidFill>
            <a:srgbClr val="E14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715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242B37"/>
                </a:solidFill>
                <a:latin typeface="Aptos"/>
              </a:defRPr>
            </a:pPr>
            <a:r>
              <a:t>• Dedicated hyperspectral cameras and spectrometers can be expensive and specialized.</a:t>
            </a:r>
          </a:p>
          <a:p>
            <a:pPr>
              <a:spcAft>
                <a:spcPts val="700"/>
              </a:spcAft>
              <a:defRPr sz="1550">
                <a:solidFill>
                  <a:srgbClr val="242B37"/>
                </a:solidFill>
                <a:latin typeface="Aptos"/>
              </a:defRPr>
            </a:pPr>
            <a:r>
              <a:t>• Large or laboratory-oriented systems are less convenient for portable experimentation.</a:t>
            </a:r>
          </a:p>
          <a:p>
            <a:pPr>
              <a:spcAft>
                <a:spcPts val="700"/>
              </a:spcAft>
              <a:defRPr sz="1550">
                <a:solidFill>
                  <a:srgbClr val="242B37"/>
                </a:solidFill>
                <a:latin typeface="Aptos"/>
              </a:defRPr>
            </a:pPr>
            <a:r>
              <a:t>• RGB cameras are widely available, but they do not directly provide a full spectral cube.</a:t>
            </a:r>
          </a:p>
          <a:p>
            <a:pPr>
              <a:spcAft>
                <a:spcPts val="700"/>
              </a:spcAft>
              <a:defRPr sz="1550">
                <a:solidFill>
                  <a:srgbClr val="242B37"/>
                </a:solidFill>
                <a:latin typeface="Aptos"/>
              </a:defRPr>
            </a:pPr>
            <a:r>
              <a:t>• Researchers need a practical way to explore wavelength-dependent information without a complex imaging setup.</a:t>
            </a:r>
          </a:p>
          <a:p>
            <a:pPr>
              <a:spcAft>
                <a:spcPts val="700"/>
              </a:spcAft>
              <a:defRPr sz="1550">
                <a:solidFill>
                  <a:srgbClr val="242B37"/>
                </a:solidFill>
                <a:latin typeface="Aptos"/>
              </a:defRPr>
            </a:pPr>
            <a:r>
              <a:t>• A compact system should combine acquisition, processing and visualization in one device.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69164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20840" y="1691640"/>
            <a:ext cx="54864" cy="1234440"/>
          </a:xfrm>
          <a:prstGeom prst="rect">
            <a:avLst/>
          </a:prstGeom>
          <a:solidFill>
            <a:srgbClr val="E14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85431" y="1810512"/>
            <a:ext cx="4279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Core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1" y="2194560"/>
            <a:ext cx="42519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B37"/>
                </a:solidFill>
                <a:latin typeface="Aptos"/>
              </a:defRPr>
            </a:pPr>
            <a:r>
              <a:t>Affordable hardware is available for RGB imaging, but spectral information is harder to obtain directly.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315468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20840" y="3154680"/>
            <a:ext cx="54864" cy="1234440"/>
          </a:xfrm>
          <a:prstGeom prst="rect">
            <a:avLst/>
          </a:prstGeom>
          <a:solidFill>
            <a:srgbClr val="EF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1" y="3273552"/>
            <a:ext cx="4279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1" y="3657600"/>
            <a:ext cx="42519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B37"/>
                </a:solidFill>
                <a:latin typeface="Aptos"/>
              </a:defRPr>
            </a:pPr>
            <a:r>
              <a:t>A portable, software-assisted approach that reconstructs spectral information and exposes selected bands.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4617720"/>
            <a:ext cx="4572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20840" y="4617720"/>
            <a:ext cx="54864" cy="91440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85431" y="4736592"/>
            <a:ext cx="4279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1" y="5120640"/>
            <a:ext cx="42519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B37"/>
                </a:solidFill>
                <a:latin typeface="Aptos"/>
              </a:defRPr>
            </a:pPr>
            <a:r>
              <a:t>Lower-cost spectral imaging experimentation without depending on a dedicated HSI camera.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t>Low-Cost Hyperspectral Imaging System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07D"/>
                </a:solidFill>
                <a:latin typeface="Aptos"/>
              </a:defRPr>
            </a:pPr>
            <a:r>
              <a:t>Translate the problem into measurable system goals.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40080" cy="50292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749808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64792"/>
            <a:ext cx="10405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C30"/>
                </a:solidFill>
                <a:latin typeface="Aptos"/>
              </a:defRPr>
            </a:pPr>
            <a:r>
              <a:t>01 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1037844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Develop a compact end-to-end imaging prototype combining hardware and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78608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578608"/>
            <a:ext cx="54864" cy="749808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697480"/>
            <a:ext cx="10405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C30"/>
                </a:solidFill>
                <a:latin typeface="Aptos"/>
              </a:defRPr>
            </a:pPr>
            <a:r>
              <a:t>02  Reconstruct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81528"/>
            <a:ext cx="1037844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Generate spectral/HSI-style information from RGB or white-light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11296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54864" cy="749808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630168"/>
            <a:ext cx="10405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C30"/>
                </a:solidFill>
                <a:latin typeface="Aptos"/>
              </a:defRPr>
            </a:pPr>
            <a:r>
              <a:t>03 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014216"/>
            <a:ext cx="1037844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Allow gain and wavelength-band selection from the application interface.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43984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443984"/>
            <a:ext cx="54864" cy="749808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4562856"/>
            <a:ext cx="10405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C30"/>
                </a:solidFill>
                <a:latin typeface="Aptos"/>
              </a:defRPr>
            </a:pPr>
            <a:r>
              <a:t>04  Visualize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946904"/>
            <a:ext cx="1037844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Show original and processed images side-by-side for immediate comparison.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76672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5376672"/>
            <a:ext cx="54864" cy="749808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5495544"/>
            <a:ext cx="10405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C30"/>
                </a:solidFill>
                <a:latin typeface="Aptos"/>
              </a:defRPr>
            </a:pPr>
            <a:r>
              <a:t>05  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879592"/>
            <a:ext cx="1037844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Use calibrated color data and image-quality metrics to evaluate reconstruction.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t>Low-Cost Hyperspectral Imaging System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07D"/>
                </a:solidFill>
                <a:latin typeface="Aptos"/>
              </a:defRPr>
            </a:pPr>
            <a:r>
              <a:t>A compact imaging unit connects image capture, spectral reconstruction and visualization.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40080" cy="50292"/>
          </a:xfrm>
          <a:prstGeom prst="rect">
            <a:avLst/>
          </a:prstGeom>
          <a:solidFill>
            <a:srgbClr val="EF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14884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2039112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0"/>
                </a:solidFill>
                <a:latin typeface="Aptos"/>
              </a:defRPr>
            </a:pPr>
            <a:r>
              <a:t>IMAGE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441448"/>
            <a:ext cx="19293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D"/>
                </a:solidFill>
                <a:latin typeface="Aptos"/>
              </a:defRPr>
            </a:pPr>
            <a:r>
              <a:t>RGB / white-light camera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88920" y="2313432"/>
            <a:ext cx="457200" cy="256032"/>
          </a:xfrm>
          <a:prstGeom prst="right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37560" y="1874519"/>
            <a:ext cx="214884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9B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2039112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0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441448"/>
            <a:ext cx="19293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D"/>
                </a:solidFill>
                <a:latin typeface="Aptos"/>
              </a:defRPr>
            </a:pPr>
            <a:r>
              <a:t>Color correction + normalization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32120" y="2313432"/>
            <a:ext cx="457200" cy="256032"/>
          </a:xfrm>
          <a:prstGeom prst="right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80760" y="1874519"/>
            <a:ext cx="214884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B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0488" y="2039112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0"/>
                </a:solidFill>
                <a:latin typeface="Aptos"/>
              </a:defRPr>
            </a:pPr>
            <a:r>
              <a:t>RECONSTRUCTION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41448"/>
            <a:ext cx="19293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D"/>
                </a:solidFill>
                <a:latin typeface="Aptos"/>
              </a:defRPr>
            </a:pPr>
            <a:r>
              <a:t>PCA + regression / band selection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275320" y="2313432"/>
            <a:ext cx="457200" cy="256032"/>
          </a:xfrm>
          <a:prstGeom prst="right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823960" y="1874519"/>
            <a:ext cx="24688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33688" y="2039112"/>
            <a:ext cx="22494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2441448"/>
            <a:ext cx="224942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D"/>
                </a:solidFill>
                <a:latin typeface="Aptos"/>
              </a:defRPr>
            </a:pPr>
            <a:r>
              <a:t>HSI-style processed 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5760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3657600"/>
            <a:ext cx="54864" cy="1325880"/>
          </a:xfrm>
          <a:prstGeom prst="rect">
            <a:avLst/>
          </a:prstGeom>
          <a:solidFill>
            <a:srgbClr val="E14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3776472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160520"/>
            <a:ext cx="48920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2B37"/>
                </a:solidFill>
                <a:latin typeface="Aptos"/>
              </a:defRPr>
            </a:pPr>
            <a:r>
              <a:t>Standard RGB image contains three visible-light channels.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5760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657600"/>
            <a:ext cx="54864" cy="1325880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2512" y="3776472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160520"/>
            <a:ext cx="48920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2B37"/>
                </a:solidFill>
                <a:latin typeface="Aptos"/>
              </a:defRPr>
            </a:pPr>
            <a:r>
              <a:t>Selected spectral bands can be visualized and compared with the original image.</a:t>
            </a:r>
          </a:p>
        </p:txBody>
      </p:sp>
      <p:pic>
        <p:nvPicPr>
          <p:cNvPr id="28" name="Picture 27" descr="Screenshot 2026-10-08 142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013" y="5193792"/>
            <a:ext cx="1808005" cy="960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t>Low-Cost Hyperspectral Imaging System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07D"/>
                </a:solidFill>
                <a:latin typeface="Aptos"/>
              </a:defRPr>
            </a:pPr>
            <a:r>
              <a:t>Hardware and software form one acquisition-to-output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40080" cy="50292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2402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993392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0"/>
                </a:solidFill>
                <a:latin typeface="Aptos"/>
              </a:defRPr>
            </a:pPr>
            <a:r>
              <a:t>Camera / Sensor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395728"/>
            <a:ext cx="202082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D"/>
                </a:solidFill>
                <a:latin typeface="Aptos"/>
              </a:defRPr>
            </a:pPr>
            <a:r>
              <a:t>Image capture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70632" y="2313432"/>
            <a:ext cx="402335" cy="256032"/>
          </a:xfrm>
          <a:prstGeom prst="right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46120" y="1828800"/>
            <a:ext cx="22402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9B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5848" y="1993392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0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2395728"/>
            <a:ext cx="202082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D"/>
                </a:solidFill>
                <a:latin typeface="Aptos"/>
              </a:defRPr>
            </a:pPr>
            <a:r>
              <a:t>Normalize + calibrate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13831" y="2313432"/>
            <a:ext cx="402336" cy="256032"/>
          </a:xfrm>
          <a:prstGeom prst="right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89320" y="1828800"/>
            <a:ext cx="22402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B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9048" y="1993392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0"/>
                </a:solidFill>
                <a:latin typeface="Aptos"/>
              </a:defRPr>
            </a:pPr>
            <a:r>
              <a:t>Spectral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395728"/>
            <a:ext cx="202082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D"/>
                </a:solidFill>
                <a:latin typeface="Aptos"/>
              </a:defRPr>
            </a:pPr>
            <a:r>
              <a:t>PCA + regression + band selection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257031" y="2313432"/>
            <a:ext cx="402336" cy="256032"/>
          </a:xfrm>
          <a:prstGeom prst="right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32520" y="1828800"/>
            <a:ext cx="22402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42248" y="1993392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0"/>
                </a:solidFill>
                <a:latin typeface="Aptos"/>
              </a:defRPr>
            </a:pPr>
            <a:r>
              <a:t>Display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2395728"/>
            <a:ext cx="202082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D"/>
                </a:solidFill>
                <a:latin typeface="Aptos"/>
              </a:defRPr>
            </a:pPr>
            <a:r>
              <a:t>Original + processed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703320"/>
            <a:ext cx="54864" cy="114300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3822191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Hardware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206240"/>
            <a:ext cx="29260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B37"/>
                </a:solidFill>
                <a:latin typeface="Aptos"/>
              </a:defRPr>
            </a:pPr>
            <a:r>
              <a:t>Compact imaging enclosure, camera/imaging module and integrated display.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03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3703320"/>
            <a:ext cx="54864" cy="1143000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9431" y="3822191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Processing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4206240"/>
            <a:ext cx="29260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B37"/>
                </a:solidFill>
                <a:latin typeface="Aptos"/>
              </a:defRPr>
            </a:pPr>
            <a:r>
              <a:t>RGB normalization, color calibration and spectral reconstruction.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3703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9" y="3703320"/>
            <a:ext cx="54864" cy="1143000"/>
          </a:xfrm>
          <a:prstGeom prst="rect">
            <a:avLst/>
          </a:prstGeom>
          <a:solidFill>
            <a:srgbClr val="EF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48471" y="3822191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User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1" y="4206240"/>
            <a:ext cx="29260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B37"/>
                </a:solidFill>
                <a:latin typeface="Aptos"/>
              </a:defRPr>
            </a:pPr>
            <a:r>
              <a:t>Gain, band limits, sample number, capture, upload, resume live and save.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t>Low-Cost Hyperspectral Imaging System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07D"/>
                </a:solidFill>
                <a:latin typeface="Aptos"/>
              </a:defRPr>
            </a:pPr>
            <a:r>
              <a:t>Core technologies used in the prototype and spectral reconstruction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40080" cy="50292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54864" cy="786384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19072"/>
            <a:ext cx="10497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C30"/>
                </a:solidFill>
                <a:latin typeface="Aptos"/>
              </a:defRPr>
            </a:pPr>
            <a:r>
              <a:t>1  Imaging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03120"/>
            <a:ext cx="10469880" cy="16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RGB / white-light camera  —  Acquires the input image.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32888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532888"/>
            <a:ext cx="54864" cy="786384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651760"/>
            <a:ext cx="10497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C30"/>
                </a:solidFill>
                <a:latin typeface="Aptos"/>
              </a:defRPr>
            </a:pPr>
            <a:r>
              <a:t>2 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035808"/>
            <a:ext cx="10469880" cy="16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Python + image processing  —  Handles acquisition, preprocessing and visualization.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65576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465576"/>
            <a:ext cx="54864" cy="786384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584448"/>
            <a:ext cx="10497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C30"/>
                </a:solidFill>
                <a:latin typeface="Aptos"/>
              </a:defRPr>
            </a:pPr>
            <a:r>
              <a:t>3  Spectral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968496"/>
            <a:ext cx="10469880" cy="16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PCA + multiple regression  —  Reconstructs spectral information from calibrated RGB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98264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4398264"/>
            <a:ext cx="54864" cy="786384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4517136"/>
            <a:ext cx="10497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C30"/>
                </a:solidFill>
                <a:latin typeface="Aptos"/>
              </a:defRPr>
            </a:pPr>
            <a:r>
              <a:t>4  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901184"/>
            <a:ext cx="10469880" cy="16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CIE XYZ + color correction  —  Maps camera response toward spectrometer-derived color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330952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5330952"/>
            <a:ext cx="54864" cy="786384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5449824"/>
            <a:ext cx="10497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C30"/>
                </a:solidFill>
                <a:latin typeface="Aptos"/>
              </a:defRPr>
            </a:pPr>
            <a:r>
              <a:t>5  Interface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5833872"/>
            <a:ext cx="10469880" cy="16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Desktop imaging application  —  Gain, band selection, live view, capture and save.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t>Low-Cost Hyperspectral Imaging System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Dataset / Input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07D"/>
                </a:solidFill>
                <a:latin typeface="Aptos"/>
              </a:defRPr>
            </a:pPr>
            <a:r>
              <a:t>Calibration and validation are based on controlled color and image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40080" cy="50292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42B37"/>
                </a:solidFill>
                <a:latin typeface="Aptos"/>
              </a:defRPr>
            </a:pPr>
            <a:r>
              <a:t>• 24-color Macbeth Color Checker (X-Rite Classic) is used for color calibration.</a:t>
            </a:r>
          </a:p>
          <a:p>
            <a:pPr>
              <a:spcAft>
                <a:spcPts val="700"/>
              </a:spcAft>
              <a:defRPr sz="1450">
                <a:solidFill>
                  <a:srgbClr val="242B37"/>
                </a:solidFill>
                <a:latin typeface="Aptos"/>
              </a:defRPr>
            </a:pPr>
            <a:r>
              <a:t>• Camera RGB images are converted to CIE 1931 XYZ for calibration against spectral measurements.</a:t>
            </a:r>
          </a:p>
          <a:p>
            <a:pPr>
              <a:spcAft>
                <a:spcPts val="700"/>
              </a:spcAft>
              <a:defRPr sz="1450">
                <a:solidFill>
                  <a:srgbClr val="242B37"/>
                </a:solidFill>
                <a:latin typeface="Aptos"/>
              </a:defRPr>
            </a:pPr>
            <a:r>
              <a:t>• Spectral reflectance data are organized at 1 nm intervals over approximately 380–780 nm.</a:t>
            </a:r>
          </a:p>
          <a:p>
            <a:pPr>
              <a:spcAft>
                <a:spcPts val="700"/>
              </a:spcAft>
              <a:defRPr sz="1450">
                <a:solidFill>
                  <a:srgbClr val="242B37"/>
                </a:solidFill>
                <a:latin typeface="Aptos"/>
              </a:defRPr>
            </a:pPr>
            <a:r>
              <a:t>• The study also evaluates endoscopic / VCE image examples for reconstruction and NBI-style simulation.</a:t>
            </a:r>
          </a:p>
          <a:p>
            <a:pPr>
              <a:spcAft>
                <a:spcPts val="700"/>
              </a:spcAft>
              <a:defRPr sz="1450">
                <a:solidFill>
                  <a:srgbClr val="242B37"/>
                </a:solidFill>
                <a:latin typeface="Aptos"/>
              </a:defRPr>
            </a:pPr>
            <a:r>
              <a:t>• For the prototype demo, live camera input or an uploaded image can be processed through the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91640"/>
            <a:ext cx="3886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52360" y="1691640"/>
            <a:ext cx="54864" cy="1143000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16952" y="1810512"/>
            <a:ext cx="3593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Calibration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2" y="2194560"/>
            <a:ext cx="3566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B37"/>
                </a:solidFill>
                <a:latin typeface="Aptos"/>
              </a:defRPr>
            </a:pPr>
            <a:r>
              <a:t>24 standardized color patches provide known color references.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063240"/>
            <a:ext cx="3886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52360" y="3063240"/>
            <a:ext cx="54864" cy="114300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16952" y="3182112"/>
            <a:ext cx="3593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Spectral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566160"/>
            <a:ext cx="3566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B37"/>
                </a:solidFill>
                <a:latin typeface="Aptos"/>
              </a:defRPr>
            </a:pPr>
            <a:r>
              <a:t>The source study uses reflectance spectra from about 380–780 nm at 1 nm intervals.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4434840"/>
            <a:ext cx="3886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52360" y="4434840"/>
            <a:ext cx="54864" cy="1143000"/>
          </a:xfrm>
          <a:prstGeom prst="rect">
            <a:avLst/>
          </a:prstGeom>
          <a:solidFill>
            <a:srgbClr val="EF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6952" y="4553712"/>
            <a:ext cx="3593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30"/>
                </a:solidFill>
                <a:latin typeface="Aptos"/>
              </a:defRPr>
            </a:pPr>
            <a:r>
              <a:t>Prototype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4937759"/>
            <a:ext cx="3566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B37"/>
                </a:solidFill>
                <a:latin typeface="Aptos"/>
              </a:defRPr>
            </a:pPr>
            <a:r>
              <a:t>RGB image / live camera feed / uploaded image.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t>Low-Cost Hyperspectral Imaging System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Methodology / Working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07D"/>
                </a:solidFill>
                <a:latin typeface="Aptos"/>
              </a:defRPr>
            </a:pPr>
            <a:r>
              <a:t>From image capture to calibrated spectral visualization.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40080" cy="50292"/>
          </a:xfrm>
          <a:prstGeom prst="rect">
            <a:avLst/>
          </a:prstGeom>
          <a:solidFill>
            <a:srgbClr val="39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645920"/>
            <a:ext cx="54864" cy="1417320"/>
          </a:xfrm>
          <a:prstGeom prst="rect">
            <a:avLst/>
          </a:prstGeom>
          <a:solidFill>
            <a:srgbClr val="39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764792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1 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29260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RGB / WLI image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0480" y="2212848"/>
            <a:ext cx="393191" cy="256032"/>
          </a:xfrm>
          <a:prstGeom prst="right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54864" cy="1417320"/>
          </a:xfrm>
          <a:prstGeom prst="rect">
            <a:avLst/>
          </a:prstGeom>
          <a:solidFill>
            <a:srgbClr val="39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764792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2  Normalize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148840"/>
            <a:ext cx="29260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sRGB → linear RGB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589520" y="2212848"/>
            <a:ext cx="393191" cy="256032"/>
          </a:xfrm>
          <a:prstGeom prst="right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54864" cy="1417320"/>
          </a:xfrm>
          <a:prstGeom prst="rect">
            <a:avLst/>
          </a:prstGeom>
          <a:solidFill>
            <a:srgbClr val="39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764792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3  Calibrate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148840"/>
            <a:ext cx="29260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RGB → XYZ + camera correction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897880" y="3090672"/>
            <a:ext cx="320040" cy="502920"/>
          </a:xfrm>
          <a:prstGeom prst="down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4360" y="3703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703320"/>
            <a:ext cx="54864" cy="1417320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3822191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4  Reconstruct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206240"/>
            <a:ext cx="29260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PCA + regression → spectral estimate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840480" y="4270248"/>
            <a:ext cx="393191" cy="256032"/>
          </a:xfrm>
          <a:prstGeom prst="right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3840480" y="4270248"/>
            <a:ext cx="393191" cy="256032"/>
          </a:xfrm>
          <a:prstGeom prst="right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43400" y="3703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3400" y="3703320"/>
            <a:ext cx="54864" cy="1417320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07992" y="3822191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5  Select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206240"/>
            <a:ext cx="29260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Choose wavelength bands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589520" y="4270248"/>
            <a:ext cx="393191" cy="256032"/>
          </a:xfrm>
          <a:prstGeom prst="right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7589520" y="4270248"/>
            <a:ext cx="393191" cy="256032"/>
          </a:xfrm>
          <a:prstGeom prst="rightArrow">
            <a:avLst/>
          </a:prstGeom>
          <a:solidFill>
            <a:srgbClr val="69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92440" y="3703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92440" y="3703320"/>
            <a:ext cx="54864" cy="1417320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57031" y="3822191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6  Display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4206240"/>
            <a:ext cx="29260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Processed HSI-style 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6320" y="5347130"/>
            <a:ext cx="102412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41832" y="5358384"/>
            <a:ext cx="54864" cy="530352"/>
          </a:xfrm>
          <a:prstGeom prst="rect">
            <a:avLst/>
          </a:prstGeom>
          <a:solidFill>
            <a:srgbClr val="EF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82624" y="5517702"/>
            <a:ext cx="9948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1C30"/>
                </a:solidFill>
                <a:latin typeface="Aptos"/>
              </a:defRPr>
            </a:pPr>
            <a:r>
              <a:rPr dirty="0"/>
              <a:t>Application controls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6126480"/>
            <a:ext cx="99212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2B37"/>
                </a:solidFill>
                <a:latin typeface="Aptos"/>
              </a:defRPr>
            </a:pPr>
            <a:r>
              <a:t>Gain adjustment • Band 1–4 limits • Sample number • Upload • Capture • Save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0" y="6575239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rPr dirty="0"/>
              <a:t>Low-Cost Hyperspectral Imaging System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Model / Algorithm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07D"/>
                </a:solidFill>
                <a:latin typeface="Aptos"/>
              </a:defRPr>
            </a:pPr>
            <a:r>
              <a:t>The core engine combines calibration, dimensionality reduction and reconstruction.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40080" cy="50292"/>
          </a:xfrm>
          <a:prstGeom prst="rect">
            <a:avLst/>
          </a:prstGeom>
          <a:solidFill>
            <a:srgbClr val="EF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54864" cy="123444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19072"/>
            <a:ext cx="48280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1. Camera calibration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03120"/>
            <a:ext cx="48006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Normalize sRGB values, linearize them using gamma correction, then map to CIE XYZ.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6324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3063240"/>
            <a:ext cx="54864" cy="1234440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3182112"/>
            <a:ext cx="48280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2. PCA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566160"/>
            <a:ext cx="48006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The source study reports six principal components capturing 99.64% of the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2628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4526280"/>
            <a:ext cx="54864" cy="1234440"/>
          </a:xfrm>
          <a:prstGeom prst="rect">
            <a:avLst/>
          </a:prstGeom>
          <a:solidFill>
            <a:srgbClr val="EF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4645152"/>
            <a:ext cx="48280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3. Multiple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5029200"/>
            <a:ext cx="48006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Use calibrated variables and spectral data to estimate the spectral representation.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002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600200"/>
            <a:ext cx="54864" cy="1234440"/>
          </a:xfrm>
          <a:prstGeom prst="rect">
            <a:avLst/>
          </a:prstGeom>
          <a:solidFill>
            <a:srgbClr val="39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1719072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4. Band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103120"/>
            <a:ext cx="48463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Select useful wavelength regions for the processed visualization.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06324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063240"/>
            <a:ext cx="54864" cy="1234440"/>
          </a:xfrm>
          <a:prstGeom prst="rect">
            <a:avLst/>
          </a:prstGeom>
          <a:solidFill>
            <a:srgbClr val="E14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3182112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5. NBI-style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3566160"/>
            <a:ext cx="48463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The source study uses selected bands including 415 nm and 540 nm, with additional spectral regions for the simulated NBI output.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52628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4526280"/>
            <a:ext cx="54864" cy="123444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4645152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Why this 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5029200"/>
            <a:ext cx="48463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It reduces the spectral reconstruction problem while retaining the most informative components from the calibration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t>Low-Cost Hyperspectral Imaging System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07D"/>
                </a:solidFill>
                <a:latin typeface="Aptos"/>
              </a:defRPr>
            </a:pPr>
            <a:r>
              <a:t>Short, benefit-focused capabilities of the low-cost prototype.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40080" cy="50292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54864" cy="123444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2679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Portable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48840"/>
            <a:ext cx="2651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Compact imaging enclosure with integrated display.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4592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645920"/>
            <a:ext cx="54864" cy="1234440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5112" y="1764792"/>
            <a:ext cx="2679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RGB → spectral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148840"/>
            <a:ext cx="2651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Produces an HSI-style processed representation from RGB/WLI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64592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1645920"/>
            <a:ext cx="54864" cy="1234440"/>
          </a:xfrm>
          <a:prstGeom prst="rect">
            <a:avLst/>
          </a:prstGeom>
          <a:solidFill>
            <a:srgbClr val="EF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1" y="1764792"/>
            <a:ext cx="2679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Adjustable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2148840"/>
            <a:ext cx="2651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Interactive gain control is available in the application.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3756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337560"/>
            <a:ext cx="54864" cy="1234440"/>
          </a:xfrm>
          <a:prstGeom prst="rect">
            <a:avLst/>
          </a:prstGeom>
          <a:solidFill>
            <a:srgbClr val="39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456432"/>
            <a:ext cx="2679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Band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840480"/>
            <a:ext cx="2651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User can define wavelength ranges for selected bands.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33756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60520" y="3337560"/>
            <a:ext cx="54864" cy="1234440"/>
          </a:xfrm>
          <a:prstGeom prst="rect">
            <a:avLst/>
          </a:prstGeom>
          <a:solidFill>
            <a:srgbClr val="E14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25112" y="3456432"/>
            <a:ext cx="2679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Live + upload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3840480"/>
            <a:ext cx="2651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Supports live operation and uploaded images.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33756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35240" y="3337560"/>
            <a:ext cx="54864" cy="123444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99831" y="3456432"/>
            <a:ext cx="2679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Capture + save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9831" y="3840480"/>
            <a:ext cx="2651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Processed results can be captured and saved for later use.</a:t>
            </a:r>
          </a:p>
        </p:txBody>
      </p:sp>
      <p:pic>
        <p:nvPicPr>
          <p:cNvPr id="29" name="Picture 28" descr="Screenshot 2026-10-08 142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522" y="4983480"/>
            <a:ext cx="1980196" cy="10515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t>Low-Cost Hyperspectral Imaging System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07D"/>
                </a:solidFill>
                <a:latin typeface="Aptos"/>
              </a:defRPr>
            </a:pPr>
            <a:r>
              <a:t>Validation results reported in the SAVE source study.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40080" cy="50292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992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31B970"/>
                </a:solidFill>
                <a:latin typeface="Aptos Display"/>
              </a:defRPr>
            </a:pPr>
            <a:r>
              <a:t>99.64%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9707D"/>
                </a:solidFill>
                <a:latin typeface="Aptos"/>
              </a:defRPr>
            </a:pPr>
            <a:r>
              <a:t>Information captured by 6 PCs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002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70992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66D6"/>
                </a:solidFill>
                <a:latin typeface="Aptos Display"/>
              </a:defRPr>
            </a:pPr>
            <a:r>
              <a:t>0.056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176272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9707D"/>
                </a:solidFill>
                <a:latin typeface="Aptos"/>
              </a:defRPr>
            </a:pPr>
            <a:r>
              <a:t>Mean spectral RMSE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6002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70992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EF9D23"/>
                </a:solidFill>
                <a:latin typeface="Aptos Display"/>
              </a:defRPr>
            </a:pPr>
            <a:r>
              <a:t>0.75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176272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9707D"/>
                </a:solidFill>
                <a:latin typeface="Aptos"/>
              </a:defRPr>
            </a:pPr>
            <a:r>
              <a:t>Average color difference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6002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170992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E14F53"/>
                </a:solidFill>
                <a:latin typeface="Aptos Display"/>
              </a:defRPr>
            </a:pPr>
            <a:r>
              <a:t>10.76 → 0.63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2176272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9707D"/>
                </a:solidFill>
                <a:latin typeface="Aptos"/>
              </a:defRPr>
            </a:pPr>
            <a:r>
              <a:t>Mean chromatic aberration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546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154680"/>
            <a:ext cx="54864" cy="1143000"/>
          </a:xfrm>
          <a:prstGeom prst="rect">
            <a:avLst/>
          </a:prstGeom>
          <a:solidFill>
            <a:srgbClr val="39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273552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NBI color 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657600"/>
            <a:ext cx="4846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Average CIEDE 2000 color difference after correction: 2.79 for the 24-color checker.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1546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154680"/>
            <a:ext cx="54864" cy="1143000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3273552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C30"/>
                </a:solidFill>
                <a:latin typeface="Aptos"/>
              </a:defRPr>
            </a:pPr>
            <a:r>
              <a:t>Image similarity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3657600"/>
            <a:ext cx="4846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B37"/>
                </a:solidFill>
                <a:latin typeface="Aptos"/>
              </a:defRPr>
            </a:pPr>
            <a:r>
              <a:t>Reported average SSIM: 90.68% for VCE and 93.99% for Olympus in the cited comparison.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72000"/>
            <a:ext cx="10652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4572000"/>
            <a:ext cx="54864" cy="1051560"/>
          </a:xfrm>
          <a:prstGeom prst="rect">
            <a:avLst/>
          </a:prstGeom>
          <a:solidFill>
            <a:srgbClr val="E14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690872"/>
            <a:ext cx="10360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C30"/>
                </a:solidFill>
                <a:latin typeface="Aptos"/>
              </a:defRPr>
            </a:pPr>
            <a:r>
              <a:t>Important 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5074920"/>
            <a:ext cx="103327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2B37"/>
                </a:solidFill>
                <a:latin typeface="Aptos"/>
              </a:defRPr>
            </a:pPr>
            <a:r>
              <a:t>These are validation results of the underlying SAVE reconstruction study; they should not be presented as measured accuracy of the current portable hardware unless separately tested.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t>Low-Cost Hyperspectral Imaging System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Demo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07D"/>
                </a:solidFill>
                <a:latin typeface="Aptos"/>
              </a:defRPr>
            </a:pPr>
            <a:r>
              <a:t>Current prototype: software interface + physical hardware.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40080" cy="50292"/>
          </a:xfrm>
          <a:prstGeom prst="rect">
            <a:avLst/>
          </a:prstGeom>
          <a:solidFill>
            <a:srgbClr val="EF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10-08 142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09307"/>
            <a:ext cx="4572000" cy="24279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508760"/>
            <a:ext cx="4572000" cy="3429000"/>
          </a:xfrm>
          <a:prstGeom prst="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5074920"/>
            <a:ext cx="4297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42B37"/>
                </a:solidFill>
                <a:latin typeface="Aptos"/>
              </a:defRPr>
            </a:pPr>
            <a:r>
              <a:t>Software interface: original and processed views with gain and band controls.</a:t>
            </a:r>
          </a:p>
        </p:txBody>
      </p:sp>
      <p:pic>
        <p:nvPicPr>
          <p:cNvPr id="8" name="Picture 7" descr="image(20261008-09395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38300"/>
            <a:ext cx="2971800" cy="3169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349240" y="1508760"/>
            <a:ext cx="2971800" cy="3429000"/>
          </a:xfrm>
          <a:prstGeom prst="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5074920"/>
            <a:ext cx="2697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42B37"/>
                </a:solidFill>
                <a:latin typeface="Aptos"/>
              </a:defRPr>
            </a:pPr>
            <a:r>
              <a:t>Hardware prototype: compact enclosure with integrated display.</a:t>
            </a:r>
          </a:p>
        </p:txBody>
      </p:sp>
      <p:pic>
        <p:nvPicPr>
          <p:cNvPr id="11" name="Picture 10" descr="processed_view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763116"/>
            <a:ext cx="3063240" cy="29202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549640" y="1508760"/>
            <a:ext cx="3063240" cy="3429000"/>
          </a:xfrm>
          <a:prstGeom prst="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5074920"/>
            <a:ext cx="2788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42B37"/>
                </a:solidFill>
                <a:latin typeface="Aptos"/>
              </a:defRPr>
            </a:pPr>
            <a:r>
              <a:t>Processed view: selected bands produce an enhanced spectral visualization.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t>Low-Cost Hyperspectral Imaging System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92240" y="685800"/>
            <a:ext cx="4983480" cy="544068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95160" y="1874519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95160" y="2788920"/>
            <a:ext cx="4023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D2DCEE"/>
                </a:solidFill>
                <a:latin typeface="Aptos"/>
              </a:defRPr>
            </a:pPr>
            <a:r>
              <a:t>Low-cost spectral imaging</a:t>
            </a:r>
            <a:br/>
            <a:r>
              <a:t>for accessible experimentation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5166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66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20">
                <a:solidFill>
                  <a:srgbClr val="242B37"/>
                </a:solidFill>
                <a:latin typeface="Aptos"/>
              </a:defRPr>
            </a:pPr>
            <a:r>
              <a:t>• Demonstrates a compact approach for converting RGB information into a spectral representation.</a:t>
            </a:r>
          </a:p>
          <a:p>
            <a:pPr>
              <a:spcAft>
                <a:spcPts val="700"/>
              </a:spcAft>
              <a:defRPr sz="1420">
                <a:solidFill>
                  <a:srgbClr val="242B37"/>
                </a:solidFill>
                <a:latin typeface="Aptos"/>
              </a:defRPr>
            </a:pPr>
            <a:r>
              <a:t>• Combines calibration, reconstruction, selectable bands and a practical user interface.</a:t>
            </a:r>
          </a:p>
          <a:p>
            <a:pPr>
              <a:spcAft>
                <a:spcPts val="700"/>
              </a:spcAft>
              <a:defRPr sz="1420">
                <a:solidFill>
                  <a:srgbClr val="242B37"/>
                </a:solidFill>
                <a:latin typeface="Aptos"/>
              </a:defRPr>
            </a:pPr>
            <a:r>
              <a:t>• Current validation evidence comes from the SAVE study; dedicated hardware benchmarking is the next step.</a:t>
            </a:r>
          </a:p>
          <a:p>
            <a:pPr>
              <a:spcAft>
                <a:spcPts val="700"/>
              </a:spcAft>
              <a:defRPr sz="1420">
                <a:solidFill>
                  <a:srgbClr val="242B37"/>
                </a:solidFill>
                <a:latin typeface="Aptos"/>
              </a:defRPr>
            </a:pPr>
            <a:r>
              <a:t>• Future: improve spectral fidelity, add more calibrated bands, optimize real-time performance and validate on more application-specific datasets.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166360"/>
            <a:ext cx="4892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5166360"/>
            <a:ext cx="54864" cy="777240"/>
          </a:xfrm>
          <a:prstGeom prst="rect">
            <a:avLst/>
          </a:prstGeom>
          <a:solidFill>
            <a:srgbClr val="31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5285232"/>
            <a:ext cx="45994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1C30"/>
                </a:solidFill>
                <a:latin typeface="Aptos"/>
              </a:defRPr>
            </a:pPr>
            <a:r>
              <a:t>Future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5669280"/>
            <a:ext cx="45720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2B37"/>
                </a:solidFill>
                <a:latin typeface="Aptos"/>
              </a:defRPr>
            </a:pPr>
            <a:r>
              <a:t>Application-specific detection + stronger hardware calibration.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4663440"/>
            <a:ext cx="4023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t>GitHub: SMARTLAB-SU/Hyperspectral-Imaging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D"/>
                </a:solidFill>
                <a:latin typeface="Aptos"/>
              </a:defRPr>
            </a:pPr>
            <a:r>
              <a:t>Low-Cost Hyperspectral Imaging System  •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1320</Words>
  <Application>Microsoft Office PowerPoint</Application>
  <PresentationFormat>Widescreen</PresentationFormat>
  <Paragraphs>184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VEDIKA PANGAVHANE</cp:lastModifiedBy>
  <cp:revision>2</cp:revision>
  <dcterms:created xsi:type="dcterms:W3CDTF">2013-01-27T09:14:16Z</dcterms:created>
  <dcterms:modified xsi:type="dcterms:W3CDTF">2026-10-08T09:51:41Z</dcterms:modified>
  <cp:category/>
</cp:coreProperties>
</file>